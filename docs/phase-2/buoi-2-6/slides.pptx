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fd86a129cc447d" /><Relationship Type="http://schemas.openxmlformats.org/officeDocument/2006/relationships/extended-properties" Target="/docProps/app.xml" Id="Rcfca43b15a6a45d2" /><Relationship Type="http://schemas.openxmlformats.org/officeDocument/2006/relationships/officeDocument" Target="/ppt/presentation.xml" Id="Rbcbb6dadcf7849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99f71be33d4a59"/>
  </p:sldMasterIdLst>
  <p:notesMasterIdLst>
    <p:notesMasterId xmlns:r="http://schemas.openxmlformats.org/officeDocument/2006/relationships" r:id="R3d24d462629d4163"/>
  </p:notesMasterIdLst>
  <p:sldIdLst>
    <p:sldId xmlns:r="http://schemas.openxmlformats.org/officeDocument/2006/relationships" id="256" r:id="R3495dac6d77c4a6e"/>
    <p:sldId xmlns:r="http://schemas.openxmlformats.org/officeDocument/2006/relationships" id="257" r:id="Rd11652e34ae24e9d"/>
    <p:sldId xmlns:r="http://schemas.openxmlformats.org/officeDocument/2006/relationships" id="258" r:id="Rff36846820f04744"/>
    <p:sldId xmlns:r="http://schemas.openxmlformats.org/officeDocument/2006/relationships" id="259" r:id="Reacab00b1fa64e4b"/>
    <p:sldId xmlns:r="http://schemas.openxmlformats.org/officeDocument/2006/relationships" id="260" r:id="R2bb871450ab945d1"/>
    <p:sldId xmlns:r="http://schemas.openxmlformats.org/officeDocument/2006/relationships" id="261" r:id="Rb8101f32a8254ee8"/>
    <p:sldId xmlns:r="http://schemas.openxmlformats.org/officeDocument/2006/relationships" id="262" r:id="Ra1bc4b6e00a74ca0"/>
    <p:sldId xmlns:r="http://schemas.openxmlformats.org/officeDocument/2006/relationships" id="263" r:id="R546aaf2764a84ab6"/>
    <p:sldId xmlns:r="http://schemas.openxmlformats.org/officeDocument/2006/relationships" id="264" r:id="R6fe25978bb284b61"/>
    <p:sldId xmlns:r="http://schemas.openxmlformats.org/officeDocument/2006/relationships" id="265" r:id="R5ff915950cd741a9"/>
    <p:sldId xmlns:r="http://schemas.openxmlformats.org/officeDocument/2006/relationships" id="266" r:id="R4e164ad12a8c4d7c"/>
    <p:sldId xmlns:r="http://schemas.openxmlformats.org/officeDocument/2006/relationships" id="267" r:id="R0764f8436fcf43ad"/>
    <p:sldId xmlns:r="http://schemas.openxmlformats.org/officeDocument/2006/relationships" id="268" r:id="R022644025a074687"/>
    <p:sldId xmlns:r="http://schemas.openxmlformats.org/officeDocument/2006/relationships" id="269" r:id="Rd2b7a283bb3247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04eb947ff420d" /><Relationship Type="http://schemas.openxmlformats.org/officeDocument/2006/relationships/slideMaster" Target="/ppt/slideMasters/slideMaster1.xml" Id="R8f99f71be33d4a59" /><Relationship Type="http://schemas.openxmlformats.org/officeDocument/2006/relationships/notesMaster" Target="/ppt/notesMasters/notesMaster1.xml" Id="R3d24d462629d4163" /><Relationship Type="http://schemas.openxmlformats.org/officeDocument/2006/relationships/presProps" Target="/ppt/presProps.xml" Id="R77f7f7e4225d4817" /><Relationship Type="http://schemas.openxmlformats.org/officeDocument/2006/relationships/tableStyles" Target="/ppt/tableStyles.xml" Id="R592f3dc232d24075" /><Relationship Type="http://schemas.openxmlformats.org/officeDocument/2006/relationships/slide" Target="/ppt/slides/slide1.xml" Id="R3495dac6d77c4a6e" /><Relationship Type="http://schemas.openxmlformats.org/officeDocument/2006/relationships/slide" Target="/ppt/slides/slide2.xml" Id="Rd11652e34ae24e9d" /><Relationship Type="http://schemas.openxmlformats.org/officeDocument/2006/relationships/slide" Target="/ppt/slides/slide3.xml" Id="Rff36846820f04744" /><Relationship Type="http://schemas.openxmlformats.org/officeDocument/2006/relationships/slide" Target="/ppt/slides/slide4.xml" Id="Reacab00b1fa64e4b" /><Relationship Type="http://schemas.openxmlformats.org/officeDocument/2006/relationships/slide" Target="/ppt/slides/slide5.xml" Id="R2bb871450ab945d1" /><Relationship Type="http://schemas.openxmlformats.org/officeDocument/2006/relationships/slide" Target="/ppt/slides/slide6.xml" Id="Rb8101f32a8254ee8" /><Relationship Type="http://schemas.openxmlformats.org/officeDocument/2006/relationships/slide" Target="/ppt/slides/slide7.xml" Id="Ra1bc4b6e00a74ca0" /><Relationship Type="http://schemas.openxmlformats.org/officeDocument/2006/relationships/slide" Target="/ppt/slides/slide8.xml" Id="R546aaf2764a84ab6" /><Relationship Type="http://schemas.openxmlformats.org/officeDocument/2006/relationships/slide" Target="/ppt/slides/slide9.xml" Id="R6fe25978bb284b61" /><Relationship Type="http://schemas.openxmlformats.org/officeDocument/2006/relationships/slide" Target="/ppt/slides/slide10.xml" Id="R5ff915950cd741a9" /><Relationship Type="http://schemas.openxmlformats.org/officeDocument/2006/relationships/slide" Target="/ppt/slides/slide11.xml" Id="R4e164ad12a8c4d7c" /><Relationship Type="http://schemas.openxmlformats.org/officeDocument/2006/relationships/slide" Target="/ppt/slides/slide12.xml" Id="R0764f8436fcf43ad" /><Relationship Type="http://schemas.openxmlformats.org/officeDocument/2006/relationships/slide" Target="/ppt/slides/slide13.xml" Id="R022644025a074687" /><Relationship Type="http://schemas.openxmlformats.org/officeDocument/2006/relationships/slide" Target="/ppt/slides/slide14.xml" Id="Rd2b7a283bb3247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67aa2c817d41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8ba04d662b46f5" /><Relationship Type="http://schemas.openxmlformats.org/officeDocument/2006/relationships/notesMaster" Target="/ppt/notesMasters/notesMaster1.xml" Id="R8372b6cc1c3e47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9b45636a144417" /><Relationship Type="http://schemas.openxmlformats.org/officeDocument/2006/relationships/notesMaster" Target="/ppt/notesMasters/notesMaster1.xml" Id="Rdbb2310f0e614c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aadcccf7ac4036" /><Relationship Type="http://schemas.openxmlformats.org/officeDocument/2006/relationships/notesMaster" Target="/ppt/notesMasters/notesMaster1.xml" Id="R13da7255be1e49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8605d1f00d4a85" /><Relationship Type="http://schemas.openxmlformats.org/officeDocument/2006/relationships/notesMaster" Target="/ppt/notesMasters/notesMaster1.xml" Id="R9ba3821835f242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d96b38d5944e01" /><Relationship Type="http://schemas.openxmlformats.org/officeDocument/2006/relationships/notesMaster" Target="/ppt/notesMasters/notesMaster1.xml" Id="Rcf2dfc887c8e40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41f4c746b447b5" /><Relationship Type="http://schemas.openxmlformats.org/officeDocument/2006/relationships/notesMaster" Target="/ppt/notesMasters/notesMaster1.xml" Id="R837eaa25853648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e74c4aae494db3" /><Relationship Type="http://schemas.openxmlformats.org/officeDocument/2006/relationships/notesMaster" Target="/ppt/notesMasters/notesMaster1.xml" Id="R18d40ac26f0046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11793584584d54" /><Relationship Type="http://schemas.openxmlformats.org/officeDocument/2006/relationships/notesMaster" Target="/ppt/notesMasters/notesMaster1.xml" Id="R12647e710cee45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e804cea4e44044" /><Relationship Type="http://schemas.openxmlformats.org/officeDocument/2006/relationships/notesMaster" Target="/ppt/notesMasters/notesMaster1.xml" Id="Rcfc8fbfae95340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ba28db6dfc41ae" /><Relationship Type="http://schemas.openxmlformats.org/officeDocument/2006/relationships/notesMaster" Target="/ppt/notesMasters/notesMaster1.xml" Id="R3c7c3fa195d444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02a36eb2924ad7" /><Relationship Type="http://schemas.openxmlformats.org/officeDocument/2006/relationships/notesMaster" Target="/ppt/notesMasters/notesMaster1.xml" Id="Rb8f269fdcd2240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2cb01849ee482e" /><Relationship Type="http://schemas.openxmlformats.org/officeDocument/2006/relationships/notesMaster" Target="/ppt/notesMasters/notesMaster1.xml" Id="Rb0586d3b3a6e41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40e98b5ad34ff6" /><Relationship Type="http://schemas.openxmlformats.org/officeDocument/2006/relationships/notesMaster" Target="/ppt/notesMasters/notesMaster1.xml" Id="R7e1506a69ec046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0376a55aca4723" /><Relationship Type="http://schemas.openxmlformats.org/officeDocument/2006/relationships/notesMaster" Target="/ppt/notesMasters/notesMaster1.xml" Id="R98ef4d4a699b45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chương 16–18; KHTN chương 6.. AIO 16.3 Housing, 16.4 trắc nghiệm; 17.2–17.4 Gradient Boosting; NT 9.5 phần Random Forest.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[[0.6000000000000001,0.4],[0.2,0.8]]</a:t>
            </a:r>
          </a:p>
          <a:p xmlns:a="http://schemas.openxmlformats.org/drawingml/2006/main">
            <a:r>
              <a:t>Tham khảo: AIO chương 16–18; KHTN chương 6.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[2.5,4.5]</a:t>
            </a:r>
          </a:p>
          <a:p xmlns:a="http://schemas.openxmlformats.org/drawingml/2006/main">
            <a:r>
              <a:t>Tham khảo: AIO chương 16–18; KHTN chương 6.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2.6: Bagging, Random Forest và boosting</a:t>
            </a:r>
          </a:p>
          <a:p xmlns:a="http://schemas.openxmlformats.org/drawingml/2006/main">
            <a:r>
              <a:t>Nguồn giáo trình: AIO chương 16–18; KHTN chương 6.</a:t>
            </a:r>
          </a:p>
          <a:p xmlns:a="http://schemas.openxmlformats.org/drawingml/2006/main">
            <a:r>
              <a:t>Bài tiếp theo trong nguồn: AIO 16.3 Housing, 16.4 trắc nghiệm; 17.2–17.4 Gradient Boosting; NT 9.5 phần Random Forest.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daa38936c4b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fc2e1da37c42ac" /><Relationship Type="http://schemas.openxmlformats.org/officeDocument/2006/relationships/slideLayout" Target="/ppt/slideLayouts/slideLayout1.xml" Id="R2825579ec11b41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25579ec11b41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f4f0325cb42b0" /><Relationship Type="http://schemas.openxmlformats.org/officeDocument/2006/relationships/notesSlide" Target="/ppt/notesSlides/notesSlide1.xml" Id="R88eef916395b4b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1827c6743497c" /><Relationship Type="http://schemas.openxmlformats.org/officeDocument/2006/relationships/notesSlide" Target="/ppt/notesSlides/notesSlide2.xml" Id="R18f78e830b534f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0dc1ca7e64358" /><Relationship Type="http://schemas.openxmlformats.org/officeDocument/2006/relationships/notesSlide" Target="/ppt/notesSlides/notesSlide3.xml" Id="R2ad8354133d745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f590a6bd84c5e" /><Relationship Type="http://schemas.openxmlformats.org/officeDocument/2006/relationships/notesSlide" Target="/ppt/notesSlides/notesSlide4.xml" Id="R41b30b5d707d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d97433b134837" /><Relationship Type="http://schemas.openxmlformats.org/officeDocument/2006/relationships/notesSlide" Target="/ppt/notesSlides/notesSlide5.xml" Id="Re2299f5bd22340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e1c0885d04b43" /><Relationship Type="http://schemas.openxmlformats.org/officeDocument/2006/relationships/notesSlide" Target="/ppt/notesSlides/notesSlide6.xml" Id="R2d1e17c6696347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67a3451f544b9" /><Relationship Type="http://schemas.openxmlformats.org/officeDocument/2006/relationships/notesSlide" Target="/ppt/notesSlides/notesSlide7.xml" Id="R17a340102c4d44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31d0ca8ae45ac" /><Relationship Type="http://schemas.openxmlformats.org/officeDocument/2006/relationships/notesSlide" Target="/ppt/notesSlides/notesSlide8.xml" Id="R69b23540fe8b46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2c1d54630437b" /><Relationship Type="http://schemas.openxmlformats.org/officeDocument/2006/relationships/notesSlide" Target="/ppt/notesSlides/notesSlide9.xml" Id="R6a10c0f839844a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554a2c0c4485f" /><Relationship Type="http://schemas.openxmlformats.org/officeDocument/2006/relationships/notesSlide" Target="/ppt/notesSlides/notesSlide10.xml" Id="R838189b033704e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c2052648848e8" /><Relationship Type="http://schemas.openxmlformats.org/officeDocument/2006/relationships/notesSlide" Target="/ppt/notesSlides/notesSlide11.xml" Id="R164e59be47464d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ff5280d264777" /><Relationship Type="http://schemas.openxmlformats.org/officeDocument/2006/relationships/notesSlide" Target="/ppt/notesSlides/notesSlide12.xml" Id="R75e6721c3a2447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a4a3964d44bb8" /><Relationship Type="http://schemas.openxmlformats.org/officeDocument/2006/relationships/notesSlide" Target="/ppt/notesSlides/notesSlide13.xml" Id="R28ea83440f4e4f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2db8fb1e642df" /><Relationship Type="http://schemas.openxmlformats.org/officeDocument/2006/relationships/notesSlide" Target="/ppt/notesSlides/notesSlide14.xml" Id="R1ede6eef47d74f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7D5E2-2CF9-4ADA-9842-705F040E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1A7A2-228A-4373-8A26-CF356708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Bagging, Random Forest và boosting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76CC5-E894-452B-8EDD-B4B10D09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Nhiều model sửa được những loại lỗi khác nhau thế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73881-C9BC-4133-9A46-02862FF4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1/14</a:t>
            </a:r>
          </a:p>
        </p:txBody>
      </p:sp>
    </p:spTree>
    <p:extLst>
      <p:ext uri="{BB962C8B-B14F-4D97-AF65-F5344CB8AC3E}">
        <p14:creationId xmlns:p14="http://schemas.microsoft.com/office/powerpoint/2010/main" val="81279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78271-1EBE-4225-B062-D37EA48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E5992-F357-426D-B9B1-B81556F7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Bagging học các model trên các mẫu biến đổi, giúp giảm phương sai.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A0D9E-7FFC-4A2E-A95D-524E5BB3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Random Forest thêm ngẫu nhiên khi chọn features; averaging giảm dao động.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D5FFA-289F-4E9C-B75E-3D1DE6F8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Boosting thêm model để sửa lỗi theo objective; cần quản lý capacity/số vòng.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EA8D4-79FF-46A2-98CB-FF6097C5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ensemble_prob = mean(model_probabilities)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3AC11-997F-41D4-A4CA-B4F3B125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2/14</a:t>
            </a:r>
          </a:p>
        </p:txBody>
      </p:sp>
    </p:spTree>
    <p:extLst>
      <p:ext uri="{BB962C8B-B14F-4D97-AF65-F5344CB8AC3E}">
        <p14:creationId xmlns:p14="http://schemas.microsoft.com/office/powerpoint/2010/main" val="939631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6AD73-0C22-43DA-8172-102508D2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predictions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[[[0.8,0.2],[0.1,0.9]],[[0.4,0.6],[0.3,0.7]]]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8F361-F280-436D-A4F4-9663F8B8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3/14</a:t>
            </a:r>
          </a:p>
        </p:txBody>
      </p:sp>
    </p:spTree>
    <p:extLst>
      <p:ext uri="{BB962C8B-B14F-4D97-AF65-F5344CB8AC3E}">
        <p14:creationId xmlns:p14="http://schemas.microsoft.com/office/powerpoint/2010/main" val="568923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8D36E-C188-4E98-8B1F-18A2F99F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9F84C-55E5-41F0-A92B-53769545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0.6,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0.4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0.2,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0.8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4036C-ACAF-43C5-870C-CE32A1FC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4/14</a:t>
            </a:r>
          </a:p>
        </p:txBody>
      </p:sp>
    </p:spTree>
    <p:extLst>
      <p:ext uri="{BB962C8B-B14F-4D97-AF65-F5344CB8AC3E}">
        <p14:creationId xmlns:p14="http://schemas.microsoft.com/office/powerpoint/2010/main" val="1210855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0B896-8077-4E55-A916-1B03BFE0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E4E90-45CA-43EF-9F90-6131B1D7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load_breast_cancer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sklearn.model_selection import train_test_split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sklearn.tree import DecisionTreeClassifier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sklearn.ensemble import RandomForestClassifier,HistGradientBoostingClassifier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X,y = load_breast_cancer(return_X_y=True)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Xtr,Xva,ytr,yva = train_test_split(X,y,test_size=.25,stratify=y,random_state=42)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models = [DecisionTreeClassifier(random_state=42),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RandomForestClassifier(n_estimators=30,max_depth=5,random_state=42),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HistGradientBoostingClassifier(max_iter=30,max_leaf_nodes=7,random_state=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42)]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model in models: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model.fit(Xtr,ytr)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print(type(model).__name__,"validation_accuracy",round(model.score(Xva,yva),4))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1D90E-A590-4637-8D97-8807DD21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9F373-269A-4B1A-9857-4C4D8D69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2.6 · 5/14</a:t>
            </a:r>
          </a:p>
        </p:txBody>
      </p:sp>
    </p:spTree>
    <p:extLst>
      <p:ext uri="{BB962C8B-B14F-4D97-AF65-F5344CB8AC3E}">
        <p14:creationId xmlns:p14="http://schemas.microsoft.com/office/powerpoint/2010/main" val="17809379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94EB0-39B0-48E5-BB7A-871DD64E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549B8-D8B9-4613-8504-4253C6F8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Các điểm ở đây chỉ là kết quả một split, không benchmark tổng quát.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9B71-ED81-4A9A-A629-C596AA6B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357DE-EB90-44F5-B56B-140EEA7D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2.6 · 6/14</a:t>
            </a:r>
          </a:p>
        </p:txBody>
      </p:sp>
    </p:spTree>
    <p:extLst>
      <p:ext uri="{BB962C8B-B14F-4D97-AF65-F5344CB8AC3E}">
        <p14:creationId xmlns:p14="http://schemas.microsoft.com/office/powerpoint/2010/main" val="269298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64EC7-E831-4E94-9A51-2419479B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B75C0-DA0F-431A-A79B-29CF949B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DecisionTreeClassifier validation_accuracy 0.9231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RandomForestClassifier validation_accuracy 0.951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HistGradientBoostingClassifier validation_accuracy 0.958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5BA7F-676E-4DCA-8F30-794C7018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7/14</a:t>
            </a:r>
          </a:p>
        </p:txBody>
      </p:sp>
    </p:spTree>
    <p:extLst>
      <p:ext uri="{BB962C8B-B14F-4D97-AF65-F5344CB8AC3E}">
        <p14:creationId xmlns:p14="http://schemas.microsoft.com/office/powerpoint/2010/main" val="1250533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1CCAB-92CE-4CB9-A961-EAE906A7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30A2E-403F-4BDF-96E5-A41D7BD1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so models bằng train score hoặc ngân sách hoàn toàn khác nhau.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98477-D5F6-477B-A7D3-E003C26E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average của hai probability vectors rồi phân biệt với hard voting.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606F8-29E6-42FA-B111-41917111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8/14</a:t>
            </a:r>
          </a:p>
        </p:txBody>
      </p:sp>
    </p:spTree>
    <p:extLst>
      <p:ext uri="{BB962C8B-B14F-4D97-AF65-F5344CB8AC3E}">
        <p14:creationId xmlns:p14="http://schemas.microsoft.com/office/powerpoint/2010/main" val="9283074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B6982-97BE-4E51-89D5-CE2966D8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18C72-86CB-4075-B6DF-83ECBD1B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Trung bình probabilities từ các models cho từng sample.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predictions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[[[0.8,0.2],[0.1,0.9]],[[0.4,0.6],[0.3,0.7]]]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26B2B-182C-45CD-880C-18E5DF81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9/14</a:t>
            </a:r>
          </a:p>
        </p:txBody>
      </p:sp>
    </p:spTree>
    <p:extLst>
      <p:ext uri="{BB962C8B-B14F-4D97-AF65-F5344CB8AC3E}">
        <p14:creationId xmlns:p14="http://schemas.microsoft.com/office/powerpoint/2010/main" val="5410712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7D589-55D2-4267-9B78-BDD22DD1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3C647-6813-44BB-9222-8170726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Cập nhật prediction + learning_rate*weak_prediction cho từng mẫu.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weak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DE97E-CBF7-4D60-B3CA-95B9BB6D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10/14</a:t>
            </a:r>
          </a:p>
        </p:txBody>
      </p:sp>
    </p:spTree>
    <p:extLst>
      <p:ext uri="{BB962C8B-B14F-4D97-AF65-F5344CB8AC3E}">
        <p14:creationId xmlns:p14="http://schemas.microsoft.com/office/powerpoint/2010/main" val="19890963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39EB9-2EC6-42A9-A353-E57C4E1D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B0FEA-3932-4490-B5C8-B74A04D1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Trung bình probabilities từ các models cho từng sample.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7A1D1-EE12-46D2-A8A7-D6AB5AC9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predictions: models x samples x classes; mỗi probability row tổng1.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C3D0D-1490-4320-AB12-EF8CDD22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69A45-6A2E-48FC-B9CF-F8C465B5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11/14</a:t>
            </a:r>
          </a:p>
        </p:txBody>
      </p:sp>
    </p:spTree>
    <p:extLst>
      <p:ext uri="{BB962C8B-B14F-4D97-AF65-F5344CB8AC3E}">
        <p14:creationId xmlns:p14="http://schemas.microsoft.com/office/powerpoint/2010/main" val="13329649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4BF6F-A8EF-46F9-AFF5-5976D7BE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CBE53-3951-4071-8688-7D284B94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Cập nhật prediction + learning_rate*weak_prediction cho từng mẫu.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557C1-02EB-4E22-AA27-7F7F4F07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pred/weak: list cùng chiều; lr: số[0,1].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96D4F-4971-4C88-9D31-283D0464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CFF45-EE28-4216-AF04-C111BEFD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12/14</a:t>
            </a:r>
          </a:p>
        </p:txBody>
      </p:sp>
    </p:spTree>
    <p:extLst>
      <p:ext uri="{BB962C8B-B14F-4D97-AF65-F5344CB8AC3E}">
        <p14:creationId xmlns:p14="http://schemas.microsoft.com/office/powerpoint/2010/main" val="1782209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410A1-5CE6-464C-B823-0CC6661A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5BD73-7E71-410D-B6A8-BEDD9E9C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So model đơn và ensemble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81A90-3DE6-4CFE-889E-D581F64B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cls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8D5C3-278E-481C-85F3-C079F09F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AB7EB-AED7-477C-B075-D2D51AB8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FCE19-88BB-4737-BCDE-A0CF6D48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13/14</a:t>
            </a:r>
          </a:p>
        </p:txBody>
      </p:sp>
    </p:spTree>
    <p:extLst>
      <p:ext uri="{BB962C8B-B14F-4D97-AF65-F5344CB8AC3E}">
        <p14:creationId xmlns:p14="http://schemas.microsoft.com/office/powerpoint/2010/main" val="19239397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BA6EF-FCA6-49B6-95ED-C7390CCD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7A0DB-E41A-40BB-A993-0F96E835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average của hai probability vectors rồi phân biệt với hard voting.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0AB1A-3254-4C23-A5EF-496929C4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chương 16–18; KHTN chương 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490BC-D4C6-4685-8305-AF43AE59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16.3 Housing, 16.4 trắc nghiệm; 17.2–17.4 Gradient Boosting; NT 9.5 phần Random Forest.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A45A8-2FB8-48C2-8482-4D4FBE07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2.6 · 14/14</a:t>
            </a:r>
          </a:p>
        </p:txBody>
      </p:sp>
    </p:spTree>
    <p:extLst>
      <p:ext uri="{BB962C8B-B14F-4D97-AF65-F5344CB8AC3E}">
        <p14:creationId xmlns:p14="http://schemas.microsoft.com/office/powerpoint/2010/main" val="90850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2026-10-01T09:00:56.6910000Z</dcterms:created>
  <dcterms:modified xsi:type="dcterms:W3CDTF">2026-10-01T09:00:56.6910000Z</dcterms:modified>
</coreProperties>
</file>