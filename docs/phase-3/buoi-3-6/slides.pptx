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4cab62e12154f09" /><Relationship Type="http://schemas.openxmlformats.org/officeDocument/2006/relationships/extended-properties" Target="/docProps/app.xml" Id="Re6c254d57abb4eb3" /><Relationship Type="http://schemas.openxmlformats.org/officeDocument/2006/relationships/officeDocument" Target="/ppt/presentation.xml" Id="R0f02e8cea77f4d1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ea7c31537be40b9"/>
  </p:sldMasterIdLst>
  <p:notesMasterIdLst>
    <p:notesMasterId xmlns:r="http://schemas.openxmlformats.org/officeDocument/2006/relationships" r:id="R29b08c7227da436d"/>
  </p:notesMasterIdLst>
  <p:sldIdLst>
    <p:sldId xmlns:r="http://schemas.openxmlformats.org/officeDocument/2006/relationships" id="256" r:id="R298f50a90fbf4470"/>
    <p:sldId xmlns:r="http://schemas.openxmlformats.org/officeDocument/2006/relationships" id="257" r:id="R744000cc40114ab7"/>
    <p:sldId xmlns:r="http://schemas.openxmlformats.org/officeDocument/2006/relationships" id="258" r:id="Rf800d82b340e492a"/>
    <p:sldId xmlns:r="http://schemas.openxmlformats.org/officeDocument/2006/relationships" id="259" r:id="Rec04c3e729714e5c"/>
    <p:sldId xmlns:r="http://schemas.openxmlformats.org/officeDocument/2006/relationships" id="260" r:id="R33fc040a56d949b6"/>
    <p:sldId xmlns:r="http://schemas.openxmlformats.org/officeDocument/2006/relationships" id="261" r:id="R4dfc01dd11514a54"/>
    <p:sldId xmlns:r="http://schemas.openxmlformats.org/officeDocument/2006/relationships" id="262" r:id="R7bf325318ed1420a"/>
    <p:sldId xmlns:r="http://schemas.openxmlformats.org/officeDocument/2006/relationships" id="263" r:id="R378bd4febd3d4696"/>
    <p:sldId xmlns:r="http://schemas.openxmlformats.org/officeDocument/2006/relationships" id="264" r:id="R6225157cb736417b"/>
    <p:sldId xmlns:r="http://schemas.openxmlformats.org/officeDocument/2006/relationships" id="265" r:id="R113a66e61e144abd"/>
    <p:sldId xmlns:r="http://schemas.openxmlformats.org/officeDocument/2006/relationships" id="266" r:id="R06f45335d1f24043"/>
    <p:sldId xmlns:r="http://schemas.openxmlformats.org/officeDocument/2006/relationships" id="267" r:id="R0b5fe14ef7f847f1"/>
    <p:sldId xmlns:r="http://schemas.openxmlformats.org/officeDocument/2006/relationships" id="268" r:id="Rf3c6802d971f430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a0d178fe8f142e1" /><Relationship Type="http://schemas.openxmlformats.org/officeDocument/2006/relationships/slideMaster" Target="/ppt/slideMasters/slideMaster1.xml" Id="R4ea7c31537be40b9" /><Relationship Type="http://schemas.openxmlformats.org/officeDocument/2006/relationships/notesMaster" Target="/ppt/notesMasters/notesMaster1.xml" Id="R29b08c7227da436d" /><Relationship Type="http://schemas.openxmlformats.org/officeDocument/2006/relationships/presProps" Target="/ppt/presProps.xml" Id="R641f4c33bbc24ec8" /><Relationship Type="http://schemas.openxmlformats.org/officeDocument/2006/relationships/tableStyles" Target="/ppt/tableStyles.xml" Id="Rd13a73465ab24f7d" /><Relationship Type="http://schemas.openxmlformats.org/officeDocument/2006/relationships/slide" Target="/ppt/slides/slide1.xml" Id="R298f50a90fbf4470" /><Relationship Type="http://schemas.openxmlformats.org/officeDocument/2006/relationships/slide" Target="/ppt/slides/slide2.xml" Id="R744000cc40114ab7" /><Relationship Type="http://schemas.openxmlformats.org/officeDocument/2006/relationships/slide" Target="/ppt/slides/slide3.xml" Id="Rf800d82b340e492a" /><Relationship Type="http://schemas.openxmlformats.org/officeDocument/2006/relationships/slide" Target="/ppt/slides/slide4.xml" Id="Rec04c3e729714e5c" /><Relationship Type="http://schemas.openxmlformats.org/officeDocument/2006/relationships/slide" Target="/ppt/slides/slide5.xml" Id="R33fc040a56d949b6" /><Relationship Type="http://schemas.openxmlformats.org/officeDocument/2006/relationships/slide" Target="/ppt/slides/slide6.xml" Id="R4dfc01dd11514a54" /><Relationship Type="http://schemas.openxmlformats.org/officeDocument/2006/relationships/slide" Target="/ppt/slides/slide7.xml" Id="R7bf325318ed1420a" /><Relationship Type="http://schemas.openxmlformats.org/officeDocument/2006/relationships/slide" Target="/ppt/slides/slide8.xml" Id="R378bd4febd3d4696" /><Relationship Type="http://schemas.openxmlformats.org/officeDocument/2006/relationships/slide" Target="/ppt/slides/slide9.xml" Id="R6225157cb736417b" /><Relationship Type="http://schemas.openxmlformats.org/officeDocument/2006/relationships/slide" Target="/ppt/slides/slide10.xml" Id="R113a66e61e144abd" /><Relationship Type="http://schemas.openxmlformats.org/officeDocument/2006/relationships/slide" Target="/ppt/slides/slide11.xml" Id="R06f45335d1f24043" /><Relationship Type="http://schemas.openxmlformats.org/officeDocument/2006/relationships/slide" Target="/ppt/slides/slide12.xml" Id="R0b5fe14ef7f847f1" /><Relationship Type="http://schemas.openxmlformats.org/officeDocument/2006/relationships/slide" Target="/ppt/slides/slide13.xml" Id="Rf3c6802d971f430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7a75e3e8480489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b69b98f2de943ac" /><Relationship Type="http://schemas.openxmlformats.org/officeDocument/2006/relationships/notesMaster" Target="/ppt/notesMasters/notesMaster1.xml" Id="R6dd5784a2d47496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a98e15278604165" /><Relationship Type="http://schemas.openxmlformats.org/officeDocument/2006/relationships/notesMaster" Target="/ppt/notesMasters/notesMaster1.xml" Id="R4d86a07f00c24d8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a126cc899ac4f0c" /><Relationship Type="http://schemas.openxmlformats.org/officeDocument/2006/relationships/notesMaster" Target="/ppt/notesMasters/notesMaster1.xml" Id="R749911344baa447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0b55bb25ef14f72" /><Relationship Type="http://schemas.openxmlformats.org/officeDocument/2006/relationships/notesMaster" Target="/ppt/notesMasters/notesMaster1.xml" Id="R431eec2240a14b0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82fa38a2e8b4189" /><Relationship Type="http://schemas.openxmlformats.org/officeDocument/2006/relationships/notesMaster" Target="/ppt/notesMasters/notesMaster1.xml" Id="Rc58eafe0cbd444c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16220610eed492d" /><Relationship Type="http://schemas.openxmlformats.org/officeDocument/2006/relationships/notesMaster" Target="/ppt/notesMasters/notesMaster1.xml" Id="Rb889655a6dcd485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8677aa962434025" /><Relationship Type="http://schemas.openxmlformats.org/officeDocument/2006/relationships/notesMaster" Target="/ppt/notesMasters/notesMaster1.xml" Id="Rd96280f87c7b44d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9a882436d5d4725" /><Relationship Type="http://schemas.openxmlformats.org/officeDocument/2006/relationships/notesMaster" Target="/ppt/notesMasters/notesMaster1.xml" Id="Rec14404d6ea941b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6409d4a9da74c52" /><Relationship Type="http://schemas.openxmlformats.org/officeDocument/2006/relationships/notesMaster" Target="/ppt/notesMasters/notesMaster1.xml" Id="R0b256cc571d7472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333bc3d868d44d3" /><Relationship Type="http://schemas.openxmlformats.org/officeDocument/2006/relationships/notesMaster" Target="/ppt/notesMasters/notesMaster1.xml" Id="R86eac4eec026465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5bdd60453f04593" /><Relationship Type="http://schemas.openxmlformats.org/officeDocument/2006/relationships/notesMaster" Target="/ppt/notesMasters/notesMaster1.xml" Id="R1571fdc8ba954ef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87049250d4f40f6" /><Relationship Type="http://schemas.openxmlformats.org/officeDocument/2006/relationships/notesMaster" Target="/ppt/notesMasters/notesMaster1.xml" Id="R832a49bc6430494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b897f2f7b8354f89" /><Relationship Type="http://schemas.openxmlformats.org/officeDocument/2006/relationships/notesMaster" Target="/ppt/notesMasters/notesMaster1.xml" Id="Rbb3f7f7a948a41d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Khung đã duyệt, AIO 31.1; KHTN 3.2,9.. AIO 31.2 “Bài Tập và Gợi Ý”;31.1/31.2 có lý thuyết và bài thực hành optimizer/initializer.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3.6: Optimizers, learning rate và initialization</a:t>
            </a:r>
          </a:p>
          <a:p xmlns:a="http://schemas.openxmlformats.org/drawingml/2006/main">
            <a:r>
              <a:t>Nguồn giáo trình: AIO 31.1; KHTN 3.2,9.</a:t>
            </a:r>
          </a:p>
          <a:p xmlns:a="http://schemas.openxmlformats.org/drawingml/2006/main">
            <a:r>
              <a:t>Bài tiếp theo trong nguồn: AIO 31.2 “Bài Tập và Gợi Ý”;31.1/31.2 có lý thuyết và bài thực hành optimizer/initializer.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3.6: Optimizers, learning rate và initialization</a:t>
            </a:r>
          </a:p>
          <a:p xmlns:a="http://schemas.openxmlformats.org/drawingml/2006/main">
            <a:r>
              <a:t>Nguồn giáo trình: AIO 31.1; KHTN 3.2,9.</a:t>
            </a:r>
          </a:p>
          <a:p xmlns:a="http://schemas.openxmlformats.org/drawingml/2006/main">
            <a:r>
              <a:t>Bài tiếp theo trong nguồn: AIO 31.2 “Bài Tập và Gợi Ý”;31.1/31.2 có lý thuyết và bài thực hành optimizer/initializer.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3.6: Optimizers, learning rate và initialization</a:t>
            </a:r>
          </a:p>
          <a:p xmlns:a="http://schemas.openxmlformats.org/drawingml/2006/main">
            <a:r>
              <a:t>Nguồn giáo trình: AIO 31.1; KHTN 3.2,9.</a:t>
            </a:r>
          </a:p>
          <a:p xmlns:a="http://schemas.openxmlformats.org/drawingml/2006/main">
            <a:r>
              <a:t>Bài tiếp theo trong nguồn: AIO 31.2 “Bài Tập và Gợi Ý”;31.1/31.2 có lý thuyết và bài thực hành optimizer/initializer.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3.6: Optimizers, learning rate và initialization</a:t>
            </a:r>
          </a:p>
          <a:p xmlns:a="http://schemas.openxmlformats.org/drawingml/2006/main">
            <a:r>
              <a:t>Nguồn giáo trình: AIO 31.1; KHTN 3.2,9.</a:t>
            </a:r>
          </a:p>
          <a:p xmlns:a="http://schemas.openxmlformats.org/drawingml/2006/main">
            <a:r>
              <a:t>Bài tiếp theo trong nguồn: AIO 31.2 “Bài Tập và Gợi Ý”;31.1/31.2 có lý thuyết và bài thực hành optimizer/initializer.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3.6: Optimizers, learning rate và initialization</a:t>
            </a:r>
          </a:p>
          <a:p xmlns:a="http://schemas.openxmlformats.org/drawingml/2006/main">
            <a:r>
              <a:t>Nguồn giáo trình: AIO 31.1; KHTN 3.2,9.</a:t>
            </a:r>
          </a:p>
          <a:p xmlns:a="http://schemas.openxmlformats.org/drawingml/2006/main">
            <a:r>
              <a:t>Bài tiếp theo trong nguồn: AIO 31.2 “Bài Tập và Gợi Ý”;31.1/31.2 có lý thuyết và bài thực hành optimizer/initializer.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3.6: Optimizers, learning rate và initialization</a:t>
            </a:r>
          </a:p>
          <a:p xmlns:a="http://schemas.openxmlformats.org/drawingml/2006/main">
            <a:r>
              <a:t>Nguồn giáo trình: AIO 31.1; KHTN 3.2,9.</a:t>
            </a:r>
          </a:p>
          <a:p xmlns:a="http://schemas.openxmlformats.org/drawingml/2006/main">
            <a:r>
              <a:t>Bài tiếp theo trong nguồn: AIO 31.2 “Bài Tập và Gợi Ý”;31.1/31.2 có lý thuyết và bài thực hành optimizer/initializer.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Đối chiếu sau khi học sinh làm: [0.8,2.1]</a:t>
            </a:r>
          </a:p>
          <a:p xmlns:a="http://schemas.openxmlformats.org/drawingml/2006/main">
            <a:r>
              <a:t>Tham khảo: AIO 31.1; KHTN 3.2,9.</a:t>
            </a:r>
          </a:p>
          <a:p xmlns:a="http://schemas.openxmlformats.org/drawingml/2006/main">
            <a:r>
              <a:t>Nếu input dài, mở BAI_HOC.html để xem đủ. Không cắt data trong bài tập gốc.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Đối chiếu sau khi học sinh làm: 3</a:t>
            </a:r>
          </a:p>
          <a:p xmlns:a="http://schemas.openxmlformats.org/drawingml/2006/main">
            <a:r>
              <a:t>Tham khảo: AIO 31.1; KHTN 3.2,9.</a:t>
            </a:r>
          </a:p>
          <a:p xmlns:a="http://schemas.openxmlformats.org/drawingml/2006/main">
            <a:r>
              <a:t>Nếu input dài, mở BAI_HOC.html để xem đủ. Không cắt data trong bài tập gốc.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3.6: Optimizers, learning rate và initialization</a:t>
            </a:r>
          </a:p>
          <a:p xmlns:a="http://schemas.openxmlformats.org/drawingml/2006/main">
            <a:r>
              <a:t>Nguồn giáo trình: AIO 31.1; KHTN 3.2,9.</a:t>
            </a:r>
          </a:p>
          <a:p xmlns:a="http://schemas.openxmlformats.org/drawingml/2006/main">
            <a:r>
              <a:t>Bài tiếp theo trong nguồn: AIO 31.2 “Bài Tập và Gợi Ý”;31.1/31.2 có lý thuyết và bài thực hành optimizer/initializer.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3.6: Optimizers, learning rate và initialization</a:t>
            </a:r>
          </a:p>
          <a:p xmlns:a="http://schemas.openxmlformats.org/drawingml/2006/main">
            <a:r>
              <a:t>Nguồn giáo trình: AIO 31.1; KHTN 3.2,9.</a:t>
            </a:r>
          </a:p>
          <a:p xmlns:a="http://schemas.openxmlformats.org/drawingml/2006/main">
            <a:r>
              <a:t>Bài tiếp theo trong nguồn: AIO 31.2 “Bài Tập và Gợi Ý”;31.1/31.2 có lý thuyết và bài thực hành optimizer/initializer.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3.6: Optimizers, learning rate và initialization</a:t>
            </a:r>
          </a:p>
          <a:p xmlns:a="http://schemas.openxmlformats.org/drawingml/2006/main">
            <a:r>
              <a:t>Nguồn giáo trình: AIO 31.1; KHTN 3.2,9.</a:t>
            </a:r>
          </a:p>
          <a:p xmlns:a="http://schemas.openxmlformats.org/drawingml/2006/main">
            <a:r>
              <a:t>Bài tiếp theo trong nguồn: AIO 31.2 “Bài Tập và Gợi Ý”;31.1/31.2 có lý thuyết và bài thực hành optimizer/initializer.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3.6: Optimizers, learning rate và initialization</a:t>
            </a:r>
          </a:p>
          <a:p xmlns:a="http://schemas.openxmlformats.org/drawingml/2006/main">
            <a:r>
              <a:t>Nguồn giáo trình: AIO 31.1; KHTN 3.2,9.</a:t>
            </a:r>
          </a:p>
          <a:p xmlns:a="http://schemas.openxmlformats.org/drawingml/2006/main">
            <a:r>
              <a:t>Bài tiếp theo trong nguồn: AIO 31.2 “Bài Tập và Gợi Ý”;31.1/31.2 có lý thuyết và bài thực hành optimizer/initializer.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f2edeafc7d04b4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018f7c371f641d3" /><Relationship Type="http://schemas.openxmlformats.org/officeDocument/2006/relationships/slideLayout" Target="/ppt/slideLayouts/slideLayout1.xml" Id="R456d78b0de77490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56d78b0de77490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a9ff76428a43c4" /><Relationship Type="http://schemas.openxmlformats.org/officeDocument/2006/relationships/notesSlide" Target="/ppt/notesSlides/notesSlide1.xml" Id="Re661e7f3b6be433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3c385045d143a0" /><Relationship Type="http://schemas.openxmlformats.org/officeDocument/2006/relationships/notesSlide" Target="/ppt/notesSlides/notesSlide2.xml" Id="R72975ad4b11c4bb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d9a0110efb4ddc" /><Relationship Type="http://schemas.openxmlformats.org/officeDocument/2006/relationships/notesSlide" Target="/ppt/notesSlides/notesSlide3.xml" Id="Rc8a8e6728c4540b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35ab26f20949ac" /><Relationship Type="http://schemas.openxmlformats.org/officeDocument/2006/relationships/notesSlide" Target="/ppt/notesSlides/notesSlide4.xml" Id="R17c72546cbac411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da14e5b6ef4dcd" /><Relationship Type="http://schemas.openxmlformats.org/officeDocument/2006/relationships/notesSlide" Target="/ppt/notesSlides/notesSlide5.xml" Id="R3887f7192f864db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aacd4f96c74ef7" /><Relationship Type="http://schemas.openxmlformats.org/officeDocument/2006/relationships/notesSlide" Target="/ppt/notesSlides/notesSlide6.xml" Id="Re2e1c865bdd8459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b9de97e30e4572" /><Relationship Type="http://schemas.openxmlformats.org/officeDocument/2006/relationships/notesSlide" Target="/ppt/notesSlides/notesSlide7.xml" Id="Rd263a326adfc4ec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6a6ddb62dd40d1" /><Relationship Type="http://schemas.openxmlformats.org/officeDocument/2006/relationships/notesSlide" Target="/ppt/notesSlides/notesSlide8.xml" Id="R93767148e37d45c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6b39041ece444e" /><Relationship Type="http://schemas.openxmlformats.org/officeDocument/2006/relationships/notesSlide" Target="/ppt/notesSlides/notesSlide9.xml" Id="R6ce0a01a74a6415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fec584dff84bb1" /><Relationship Type="http://schemas.openxmlformats.org/officeDocument/2006/relationships/notesSlide" Target="/ppt/notesSlides/notesSlide10.xml" Id="Re15fe7c5c6734f5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4d27d54f9a42c2" /><Relationship Type="http://schemas.openxmlformats.org/officeDocument/2006/relationships/notesSlide" Target="/ppt/notesSlides/notesSlide11.xml" Id="R2e0d41507c404af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80892e4deb4cd9" /><Relationship Type="http://schemas.openxmlformats.org/officeDocument/2006/relationships/notesSlide" Target="/ppt/notesSlides/notesSlide12.xml" Id="Rd8c9783ea0364da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994af9517d4a65" /><Relationship Type="http://schemas.openxmlformats.org/officeDocument/2006/relationships/notesSlide" Target="/ppt/notesSlides/notesSlide13.xml" Id="Rb02f3f4bbc2846c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BD82FC-E818-4A33-8299-F0FDB3513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B779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B779D"/>
                </a:solidFill>
                <a:latin typeface="Arial"/>
                <a:ea typeface="Arial"/>
                <a:cs typeface="Arial"/>
              </a:rPr>
              <a:t>Buổi 3.6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1091B7-A04F-44BC-B754-92FD19395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66800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Optimizers, learning rate và initialization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8006BD-1460-4B67-99E6-0D55FD3FA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1047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Hai optimizer chạy cùng epochs có chắc cùng số updates không?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6F008C-5EDE-4A7B-AD99-F45A271EC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3.6 · 1/13</a:t>
            </a:r>
          </a:p>
        </p:txBody>
      </p:sp>
    </p:spTree>
    <p:extLst>
      <p:ext uri="{BB962C8B-B14F-4D97-AF65-F5344CB8AC3E}">
        <p14:creationId xmlns:p14="http://schemas.microsoft.com/office/powerpoint/2010/main" val="138978953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57F4C7-7DFF-4BC8-8566-D0DC3A0D2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Ý tưởng cần hiểu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0DC18A-BF41-48B1-9F65-6395D9E97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10668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SGD/mini-batch tính gradient từ batch; momentum giúp ổn định quỹ đạo.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84A94D-4060-4F28-8022-113580950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0"/>
            <a:ext cx="10668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Adam/AdamW điều chỉnh update theo thống kê gradient; dùng đúng weight decay.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3B14E9-828A-414E-B977-07F84CDC3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19550"/>
            <a:ext cx="10668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So bằng cùng updates/budget và khởi tạo; chọn LR theo validation.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B98790-D927-43D3-919F-EFA218482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10200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B779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B779D"/>
                </a:solidFill>
                <a:latin typeface="Arial"/>
                <a:ea typeface="Arial"/>
                <a:cs typeface="Arial"/>
              </a:rPr>
              <a:t>SGD: w_new=w-lr×grad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050279-E421-465D-9D48-161CCD1F7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3.6 · 2/13</a:t>
            </a:r>
          </a:p>
        </p:txBody>
      </p:sp>
    </p:spTree>
    <p:extLst>
      <p:ext uri="{BB962C8B-B14F-4D97-AF65-F5344CB8AC3E}">
        <p14:creationId xmlns:p14="http://schemas.microsoft.com/office/powerpoint/2010/main" val="14948629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5F6955-25B5-4058-BBE2-3835C6384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Ví dụ: đọc input trước khi tính</a:t>
            </a:r>
          </a:p>
        </p:txBody>
      </p:sp>
      <p:graphicFrame>
        <p:nvGraphicFramePr>
          <p:cNvPr id="5" name=""/>
          <p:cNvGraphicFramePr/>
          <p:nvPr/>
        </p:nvGraphicFramePr>
        <p:xfrm>
          <a:off xmlns:a="http://schemas.openxmlformats.org/drawingml/2006/main" x="609600" y="1571625"/>
          <a:ext xmlns:a="http://schemas.openxmlformats.org/drawingml/2006/main" cx="10972800" cy="2514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8115300"/>
              </a:tblGrid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Trường</a:t>
                      </a:r>
                    </a:p>
                  </a:txBody>
                  <a:tcPr marL="91440" marR="91440" marT="45720" marB="45720">
                    <a:solidFill>
                      <a:srgbClr val="153A4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Giá trị</a:t>
                      </a:r>
                    </a:p>
                  </a:txBody>
                  <a:tcPr marL="91440" marR="91440" marT="45720" marB="45720">
                    <a:solidFill>
                      <a:srgbClr val="153A4D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w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[1,2]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grad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[2,-1]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lr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0.1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C99222-06AD-44D3-8976-9402D62D6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3.6 · 3/13</a:t>
            </a:r>
          </a:p>
        </p:txBody>
      </p:sp>
    </p:spTree>
    <p:extLst>
      <p:ext uri="{BB962C8B-B14F-4D97-AF65-F5344CB8AC3E}">
        <p14:creationId xmlns:p14="http://schemas.microsoft.com/office/powerpoint/2010/main" val="131421367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430B33-42F1-40CE-97A8-9F6C7C40E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Đối chiếu phép tính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20FCBE-C4B3-402A-8260-FBE0CCA32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972800" cy="457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[</a:t>
            </a:r>
          </a:p>
          <a:p xmlns:a="http://schemas.openxmlformats.org/drawingml/2006/main">
            <a:pPr>
              <a:defRPr sz="1800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  0.8,</a:t>
            </a:r>
          </a:p>
          <a:p xmlns:a="http://schemas.openxmlformats.org/drawingml/2006/main">
            <a:pPr>
              <a:defRPr sz="1800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  2.1</a:t>
            </a:r>
          </a:p>
          <a:p xmlns:a="http://schemas.openxmlformats.org/drawingml/2006/main">
            <a:pPr>
              <a:defRPr sz="1800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]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16BD85-C9BD-45DA-A860-AAF5405E3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3.6 · 4/13</a:t>
            </a:r>
          </a:p>
        </p:txBody>
      </p:sp>
    </p:spTree>
    <p:extLst>
      <p:ext uri="{BB962C8B-B14F-4D97-AF65-F5344CB8AC3E}">
        <p14:creationId xmlns:p14="http://schemas.microsoft.com/office/powerpoint/2010/main" val="120187417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027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15ECAE-83C0-4AC1-A9ED-702B20B0C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Code minh họa — đoạn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239FE3-8887-4A2F-A180-8DF480B8E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85900"/>
            <a:ext cx="10972800" cy="428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import torch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from torch import nn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torch.set_num_threads(1)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X = torch.linspace(-1,1,50).reshape(-1,1); y = 3*X-2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for name,optimizer_type in [("SGD",torch.optim.SGD),("AdamW",torch.optim.AdamW)]: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    torch.manual_seed(42)  # Hai lần bắt đầu cùng weights.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    model = nn.Linear(1,1)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    optimizer = optimizer_type(model.parameters(),lr=.1)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    for step in range(40):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        optimizer.zero_grad(); loss = ((model(X)-y)**2).mean()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        loss.backward(); optimizer.step()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    print(name,"loss",round(loss.item(),6),"w",round(model.weight.item(),4))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# Đây là so sánh 40 updates trên fixture, không khẳng định optimizer nào luôn tốt.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9E41C4-FA19-4815-8B20-56F52D7FF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CBDCE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CBDCE3"/>
                </a:solidFill>
                <a:latin typeface="Arial"/>
                <a:ea typeface="Arial"/>
                <a:cs typeface="Arial"/>
              </a:rPr>
              <a:t>Code đầy đủ: code_minh_hoa.py / code_minh_hoa.ipynb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C37CFB-13CB-4E6E-8C56-49238A01F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BDCDD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DCDD4"/>
                </a:solidFill>
                <a:latin typeface="Arial"/>
                <a:ea typeface="Arial"/>
                <a:cs typeface="Arial"/>
              </a:rPr>
              <a:t>AI Canuc80k · Buổi 3.6 · 5/13</a:t>
            </a:r>
          </a:p>
        </p:txBody>
      </p:sp>
    </p:spTree>
    <p:extLst>
      <p:ext uri="{BB962C8B-B14F-4D97-AF65-F5344CB8AC3E}">
        <p14:creationId xmlns:p14="http://schemas.microsoft.com/office/powerpoint/2010/main" val="100268861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049B85-3D41-403D-B050-52851FC87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Output của code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25511A-06A4-4B6D-B37F-30AFBDAC7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85900"/>
            <a:ext cx="10972800" cy="428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SGD loss 0.006353 w 2.8741</a:t>
            </a:r>
          </a:p>
          <a:p xmlns:a="http://schemas.openxmlformats.org/drawingml/2006/main">
            <a:pPr>
              <a:defRPr sz="1725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AdamW loss 0.015593 w 3.2021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B5B99E-1DDE-4EE2-8786-E672F85E4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3.6 · 6/13</a:t>
            </a:r>
          </a:p>
        </p:txBody>
      </p:sp>
    </p:spTree>
    <p:extLst>
      <p:ext uri="{BB962C8B-B14F-4D97-AF65-F5344CB8AC3E}">
        <p14:creationId xmlns:p14="http://schemas.microsoft.com/office/powerpoint/2010/main" val="110470207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D94D69-D49A-467B-AA45-D0B448010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Điểm dễ nhầm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0924B2-2EBD-470E-89BB-F789D93A5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6680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0B779D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0B779D"/>
                </a:solidFill>
                <a:latin typeface="Arial"/>
                <a:ea typeface="Arial"/>
                <a:cs typeface="Arial"/>
              </a:rPr>
              <a:t>Không kết luận optimizer luôn hơn từ một fixture1D.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4497FC-12E1-4C53-B5E5-118CF620C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0"/>
            <a:ext cx="10668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Tính update w1, grad2, lr0.1 rồi so logs SGD/AdamW.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5DD433-AC52-44D1-B49D-DDD36F838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3.6 · 7/13</a:t>
            </a:r>
          </a:p>
        </p:txBody>
      </p:sp>
    </p:spTree>
    <p:extLst>
      <p:ext uri="{BB962C8B-B14F-4D97-AF65-F5344CB8AC3E}">
        <p14:creationId xmlns:p14="http://schemas.microsoft.com/office/powerpoint/2010/main" val="125783792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99607C-FC8B-4FEF-8E48-E04B6576B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Bài trên lớp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7A6CFA-3C97-46EB-B0C7-362971ABB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Update w←w-lr*grad từngphầntử.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09600" y="2714625"/>
          <a:ext xmlns:a="http://schemas.openxmlformats.org/drawingml/2006/main" cx="10972800" cy="2514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8115300"/>
              </a:tblGrid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Trường</a:t>
                      </a:r>
                    </a:p>
                  </a:txBody>
                  <a:tcPr marL="91440" marR="91440" marT="45720" marB="45720">
                    <a:solidFill>
                      <a:srgbClr val="153A4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Giá trị</a:t>
                      </a:r>
                    </a:p>
                  </a:txBody>
                  <a:tcPr marL="91440" marR="91440" marT="45720" marB="45720">
                    <a:solidFill>
                      <a:srgbClr val="153A4D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w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[1,2]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grad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[2,-1]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lr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0.1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77A677-B509-42D4-ADEB-7A550F68E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3.6 · 8/13</a:t>
            </a:r>
          </a:p>
        </p:txBody>
      </p:sp>
    </p:spTree>
    <p:extLst>
      <p:ext uri="{BB962C8B-B14F-4D97-AF65-F5344CB8AC3E}">
        <p14:creationId xmlns:p14="http://schemas.microsoft.com/office/powerpoint/2010/main" val="66946184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4109C3-43AF-4C04-85FF-9CA420055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Bài trên lớp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74CE92-0AE5-49A8-BB3F-5C9BC5F01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Số optimizer steps khi cón_batches, accumulation; step cuối vẫn thực hiện kể cả chưa đủ.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09600" y="2714625"/>
          <a:ext xmlns:a="http://schemas.openxmlformats.org/drawingml/2006/main" cx="10972800" cy="18859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8115300"/>
              </a:tblGrid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Trường</a:t>
                      </a:r>
                    </a:p>
                  </a:txBody>
                  <a:tcPr marL="91440" marR="91440" marT="45720" marB="45720">
                    <a:solidFill>
                      <a:srgbClr val="153A4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Giá trị</a:t>
                      </a:r>
                    </a:p>
                  </a:txBody>
                  <a:tcPr marL="91440" marR="91440" marT="45720" marB="45720">
                    <a:solidFill>
                      <a:srgbClr val="153A4D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n_batches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10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accumulation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4B6667-AC18-4114-9861-BD0648DE7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3.6 · 9/13</a:t>
            </a:r>
          </a:p>
        </p:txBody>
      </p:sp>
    </p:spTree>
    <p:extLst>
      <p:ext uri="{BB962C8B-B14F-4D97-AF65-F5344CB8AC3E}">
        <p14:creationId xmlns:p14="http://schemas.microsoft.com/office/powerpoint/2010/main" val="161205480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701147-4DA2-483D-AD8C-384ADA36F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BTVN 1 — yêu cầu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85A1CB-2848-4466-978D-1AB314027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14475"/>
            <a:ext cx="106680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B779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B779D"/>
                </a:solidFill>
                <a:latin typeface="Arial"/>
                <a:ea typeface="Arial"/>
                <a:cs typeface="Arial"/>
              </a:rPr>
              <a:t>Update w←w-lr*grad từngphầntử.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CD4264-686F-4C9A-B94D-8D8657B97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0425"/>
            <a:ext cx="10668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Input: w/grad: list same length; lr&gt;=0.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4B761C-75CA-4B78-9B70-FAC269169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7685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Output: một JSON value; xem đầy đủ ví dụ, quy ước và giới hạn trong BTVN_01.txt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EF9AC2-9D09-487C-B3B9-4A0363B37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3.6 · 10/13</a:t>
            </a:r>
          </a:p>
        </p:txBody>
      </p:sp>
    </p:spTree>
    <p:extLst>
      <p:ext uri="{BB962C8B-B14F-4D97-AF65-F5344CB8AC3E}">
        <p14:creationId xmlns:p14="http://schemas.microsoft.com/office/powerpoint/2010/main" val="145629161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2D0DEA-F43A-4C68-B2F4-EAC954657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BTVN 2 — yêu cầu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67ADD5-AF16-4F93-9868-40E2179CC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14475"/>
            <a:ext cx="106680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B779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B779D"/>
                </a:solidFill>
                <a:latin typeface="Arial"/>
                <a:ea typeface="Arial"/>
                <a:cs typeface="Arial"/>
              </a:rPr>
              <a:t>Số optimizer steps khi cón_batches, accumulation; step cuối vẫn thực hiện kể cả chưa đủ.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536E67-A52B-4463-B7F1-4E1DDA18D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0425"/>
            <a:ext cx="10668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Input: n_batches&gt;=0; accumulation&gt;=1.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619C4F-4E45-476C-A88E-9805DB7D6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7685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Output: một JSON value; xem đầy đủ ví dụ, quy ước và giới hạn trong BTVN_02.txt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E4CAAB-867E-4FA9-B763-94AC1B8D4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3.6 · 11/13</a:t>
            </a:r>
          </a:p>
        </p:txBody>
      </p:sp>
    </p:spTree>
    <p:extLst>
      <p:ext uri="{BB962C8B-B14F-4D97-AF65-F5344CB8AC3E}">
        <p14:creationId xmlns:p14="http://schemas.microsoft.com/office/powerpoint/2010/main" val="213139803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612BB4-3387-42ED-AE75-004FEAFD3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BTVN 3 — yêu cầu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6A454C-1373-4A15-8188-638A1B530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14475"/>
            <a:ext cx="106680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B779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B779D"/>
                </a:solidFill>
                <a:latin typeface="Arial"/>
                <a:ea typeface="Arial"/>
                <a:cs typeface="Arial"/>
              </a:rPr>
              <a:t>So optimizers bằng cùng budget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01B572-28E9-4657-B500-2DF5F118D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10668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Data: reg · {"train":500,"valid":120,"test":200}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AEC3AB-EB2D-4C7A-84F5-A8BD4F17E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62450"/>
            <a:ext cx="106680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Chấm: RMSE; score=exp(-RMSE).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0E481F-A3AB-4C80-8EDE-F67B1F773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05475"/>
            <a:ext cx="1066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Mở BTVN_03.txt, DATA_NOTE và sample_submission trước khi làm.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A7FC19-BF75-4FC0-ADE5-2FDFBA79C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3.6 · 12/13</a:t>
            </a:r>
          </a:p>
        </p:txBody>
      </p:sp>
    </p:spTree>
    <p:extLst>
      <p:ext uri="{BB962C8B-B14F-4D97-AF65-F5344CB8AC3E}">
        <p14:creationId xmlns:p14="http://schemas.microsoft.com/office/powerpoint/2010/main" val="117495318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2520F7-7D1F-4741-9612-85860F470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Chốt bài và nguồn học tiếp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6D7C48-6AAB-4DAD-9142-25C6153C7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66800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B779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B779D"/>
                </a:solidFill>
                <a:latin typeface="Arial"/>
                <a:ea typeface="Arial"/>
                <a:cs typeface="Arial"/>
              </a:rPr>
              <a:t>Tính update w1, grad2, lr0.1 rồi so logs SGD/AdamW.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DE4754-F0C7-4652-A580-26953DD2E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05200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AIO 31.1; KHTN 3.2,9.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DF1299-D5D9-4AD7-9673-0C053F617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29150"/>
            <a:ext cx="106680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AIO 31.2 “Bài Tập và Gợi Ý”;31.1/31.2 có lý thuyết và bài thực hành optimizer/initializer.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48BF38-7793-4E18-AC19-98B70814D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3.6 · 13/13</a:t>
            </a:r>
          </a:p>
        </p:txBody>
      </p:sp>
    </p:spTree>
    <p:extLst>
      <p:ext uri="{BB962C8B-B14F-4D97-AF65-F5344CB8AC3E}">
        <p14:creationId xmlns:p14="http://schemas.microsoft.com/office/powerpoint/2010/main" val="191034825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2026-10-01T09:00:58.5450000Z</dcterms:created>
  <dcterms:modified xsi:type="dcterms:W3CDTF">2026-10-01T09:00:58.5450000Z</dcterms:modified>
</coreProperties>
</file>