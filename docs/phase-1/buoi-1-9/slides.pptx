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b0d20723b44d6" /><Relationship Type="http://schemas.openxmlformats.org/officeDocument/2006/relationships/extended-properties" Target="/docProps/app.xml" Id="R2feee41c5236470c" /><Relationship Type="http://schemas.openxmlformats.org/officeDocument/2006/relationships/officeDocument" Target="/ppt/presentation.xml" Id="Ra343df0653db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b81d874f242fd"/>
  </p:sldMasterIdLst>
  <p:notesMasterIdLst>
    <p:notesMasterId xmlns:r="http://schemas.openxmlformats.org/officeDocument/2006/relationships" r:id="Rc53109373ca64606"/>
  </p:notesMasterIdLst>
  <p:sldIdLst>
    <p:sldId xmlns:r="http://schemas.openxmlformats.org/officeDocument/2006/relationships" id="256" r:id="R42d3cea9a0594c8a"/>
    <p:sldId xmlns:r="http://schemas.openxmlformats.org/officeDocument/2006/relationships" id="257" r:id="R19562c5831974a2c"/>
    <p:sldId xmlns:r="http://schemas.openxmlformats.org/officeDocument/2006/relationships" id="258" r:id="Re8ee936ee4fb4b31"/>
    <p:sldId xmlns:r="http://schemas.openxmlformats.org/officeDocument/2006/relationships" id="259" r:id="R9ff9d97def034d70"/>
    <p:sldId xmlns:r="http://schemas.openxmlformats.org/officeDocument/2006/relationships" id="260" r:id="R5bd030f09fdc4bb6"/>
    <p:sldId xmlns:r="http://schemas.openxmlformats.org/officeDocument/2006/relationships" id="261" r:id="R236df85bc83e44a5"/>
    <p:sldId xmlns:r="http://schemas.openxmlformats.org/officeDocument/2006/relationships" id="262" r:id="R0003cc549e4d4730"/>
    <p:sldId xmlns:r="http://schemas.openxmlformats.org/officeDocument/2006/relationships" id="263" r:id="Rbf31360b07644208"/>
    <p:sldId xmlns:r="http://schemas.openxmlformats.org/officeDocument/2006/relationships" id="264" r:id="Ra346ebf68e3d4686"/>
    <p:sldId xmlns:r="http://schemas.openxmlformats.org/officeDocument/2006/relationships" id="265" r:id="Reb69bb59ba62472d"/>
    <p:sldId xmlns:r="http://schemas.openxmlformats.org/officeDocument/2006/relationships" id="266" r:id="R318756ffad004581"/>
    <p:sldId xmlns:r="http://schemas.openxmlformats.org/officeDocument/2006/relationships" id="267" r:id="Rbb8db1eae06b458b"/>
    <p:sldId xmlns:r="http://schemas.openxmlformats.org/officeDocument/2006/relationships" id="268" r:id="R981d2d1c4b2740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52d4c4e8c49c8" /><Relationship Type="http://schemas.openxmlformats.org/officeDocument/2006/relationships/slideMaster" Target="/ppt/slideMasters/slideMaster1.xml" Id="Ra39b81d874f242fd" /><Relationship Type="http://schemas.openxmlformats.org/officeDocument/2006/relationships/notesMaster" Target="/ppt/notesMasters/notesMaster1.xml" Id="Rc53109373ca64606" /><Relationship Type="http://schemas.openxmlformats.org/officeDocument/2006/relationships/presProps" Target="/ppt/presProps.xml" Id="R77646408bdc44031" /><Relationship Type="http://schemas.openxmlformats.org/officeDocument/2006/relationships/tableStyles" Target="/ppt/tableStyles.xml" Id="R82a315047c3848e3" /><Relationship Type="http://schemas.openxmlformats.org/officeDocument/2006/relationships/slide" Target="/ppt/slides/slide1.xml" Id="R42d3cea9a0594c8a" /><Relationship Type="http://schemas.openxmlformats.org/officeDocument/2006/relationships/slide" Target="/ppt/slides/slide2.xml" Id="R19562c5831974a2c" /><Relationship Type="http://schemas.openxmlformats.org/officeDocument/2006/relationships/slide" Target="/ppt/slides/slide3.xml" Id="Re8ee936ee4fb4b31" /><Relationship Type="http://schemas.openxmlformats.org/officeDocument/2006/relationships/slide" Target="/ppt/slides/slide4.xml" Id="R9ff9d97def034d70" /><Relationship Type="http://schemas.openxmlformats.org/officeDocument/2006/relationships/slide" Target="/ppt/slides/slide5.xml" Id="R5bd030f09fdc4bb6" /><Relationship Type="http://schemas.openxmlformats.org/officeDocument/2006/relationships/slide" Target="/ppt/slides/slide6.xml" Id="R236df85bc83e44a5" /><Relationship Type="http://schemas.openxmlformats.org/officeDocument/2006/relationships/slide" Target="/ppt/slides/slide7.xml" Id="R0003cc549e4d4730" /><Relationship Type="http://schemas.openxmlformats.org/officeDocument/2006/relationships/slide" Target="/ppt/slides/slide8.xml" Id="Rbf31360b07644208" /><Relationship Type="http://schemas.openxmlformats.org/officeDocument/2006/relationships/slide" Target="/ppt/slides/slide9.xml" Id="Ra346ebf68e3d4686" /><Relationship Type="http://schemas.openxmlformats.org/officeDocument/2006/relationships/slide" Target="/ppt/slides/slide10.xml" Id="Reb69bb59ba62472d" /><Relationship Type="http://schemas.openxmlformats.org/officeDocument/2006/relationships/slide" Target="/ppt/slides/slide11.xml" Id="R318756ffad004581" /><Relationship Type="http://schemas.openxmlformats.org/officeDocument/2006/relationships/slide" Target="/ppt/slides/slide12.xml" Id="Rbb8db1eae06b458b" /><Relationship Type="http://schemas.openxmlformats.org/officeDocument/2006/relationships/slide" Target="/ppt/slides/slide13.xml" Id="R981d2d1c4b27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4b2f9bc8dd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6afcbe68094579" /><Relationship Type="http://schemas.openxmlformats.org/officeDocument/2006/relationships/notesMaster" Target="/ppt/notesMasters/notesMaster1.xml" Id="R673a22dfc82047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46c08ca024b1e" /><Relationship Type="http://schemas.openxmlformats.org/officeDocument/2006/relationships/notesMaster" Target="/ppt/notesMasters/notesMaster1.xml" Id="Rc0b55e72c56349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08aa60ba914f31" /><Relationship Type="http://schemas.openxmlformats.org/officeDocument/2006/relationships/notesMaster" Target="/ppt/notesMasters/notesMaster1.xml" Id="R7e5c6e4b4d7d46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a52e547ba8412a" /><Relationship Type="http://schemas.openxmlformats.org/officeDocument/2006/relationships/notesMaster" Target="/ppt/notesMasters/notesMaster1.xml" Id="Rf21cb576a1a94a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3b6ebe34c4976" /><Relationship Type="http://schemas.openxmlformats.org/officeDocument/2006/relationships/notesMaster" Target="/ppt/notesMasters/notesMaster1.xml" Id="R127f58827df949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c0dafa33b14819" /><Relationship Type="http://schemas.openxmlformats.org/officeDocument/2006/relationships/notesMaster" Target="/ppt/notesMasters/notesMaster1.xml" Id="R309bd5e605ac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233c9c75e4641" /><Relationship Type="http://schemas.openxmlformats.org/officeDocument/2006/relationships/notesMaster" Target="/ppt/notesMasters/notesMaster1.xml" Id="Rfe72a4b9aa52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b71b687124b9b" /><Relationship Type="http://schemas.openxmlformats.org/officeDocument/2006/relationships/notesMaster" Target="/ppt/notesMasters/notesMaster1.xml" Id="R800dac918e3b4d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b03a1db0aa4ce7" /><Relationship Type="http://schemas.openxmlformats.org/officeDocument/2006/relationships/notesMaster" Target="/ppt/notesMasters/notesMaster1.xml" Id="R2f8363fe779e4f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6f145218124553" /><Relationship Type="http://schemas.openxmlformats.org/officeDocument/2006/relationships/notesMaster" Target="/ppt/notesMasters/notesMaster1.xml" Id="Rf91aff62c6d24e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9b3675888d4d63" /><Relationship Type="http://schemas.openxmlformats.org/officeDocument/2006/relationships/notesMaster" Target="/ppt/notesMasters/notesMaster1.xml" Id="R2fb525bbfc7746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1002f30a8b41dd" /><Relationship Type="http://schemas.openxmlformats.org/officeDocument/2006/relationships/notesMaster" Target="/ppt/notesMasters/notesMaster1.xml" Id="R7c66b9b8c95b49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746334cfaf404c" /><Relationship Type="http://schemas.openxmlformats.org/officeDocument/2006/relationships/notesMaster" Target="/ppt/notesMasters/notesMaster1.xml" Id="Rdc719b7617eb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3.1–3.2; AIO 21.2–21.4.. AIO 21.4 thực hành huấn luyện Linear Regression và 21.6 trắc nghiệm; trở lại khi học mạng neural.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[7,3,1]</a:t>
            </a:r>
          </a:p>
          <a:p xmlns:a="http://schemas.openxmlformats.org/drawingml/2006/main">
            <a:r>
              <a:t>Tham khảo: KHTN 3.1–3.2; AIO 21.2–21.4.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2.0169599999999996</a:t>
            </a:r>
          </a:p>
          <a:p xmlns:a="http://schemas.openxmlformats.org/drawingml/2006/main">
            <a:r>
              <a:t>Tham khảo: KHTN 3.1–3.2; AIO 21.2–21.4.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1.9: Đạo hàm và gradient descent</a:t>
            </a:r>
          </a:p>
          <a:p xmlns:a="http://schemas.openxmlformats.org/drawingml/2006/main">
            <a:r>
              <a:t>Nguồn giáo trình: KHTN 3.1–3.2; AIO 21.2–21.4.</a:t>
            </a:r>
          </a:p>
          <a:p xmlns:a="http://schemas.openxmlformats.org/drawingml/2006/main">
            <a:r>
              <a:t>Bài tiếp theo trong nguồn: AIO 21.4 thực hành huấn luyện Linear Regression và 21.6 trắc nghiệm; trở lại khi học mạng neural.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2d40441d0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07e8ecd0d4dbd" /><Relationship Type="http://schemas.openxmlformats.org/officeDocument/2006/relationships/slideLayout" Target="/ppt/slideLayouts/slideLayout1.xml" Id="Rdfaa7b0f13f0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a7b0f13f0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6c30851fd4a10" /><Relationship Type="http://schemas.openxmlformats.org/officeDocument/2006/relationships/notesSlide" Target="/ppt/notesSlides/notesSlide1.xml" Id="R97c5016551364b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4989fba394082" /><Relationship Type="http://schemas.openxmlformats.org/officeDocument/2006/relationships/notesSlide" Target="/ppt/notesSlides/notesSlide2.xml" Id="R4bc304c46c2c40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17529a0e84b6b" /><Relationship Type="http://schemas.openxmlformats.org/officeDocument/2006/relationships/notesSlide" Target="/ppt/notesSlides/notesSlide3.xml" Id="Ra4f9305e1943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3aff4d6b54e46" /><Relationship Type="http://schemas.openxmlformats.org/officeDocument/2006/relationships/notesSlide" Target="/ppt/notesSlides/notesSlide4.xml" Id="R84e55aa0a487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c2e5bfdaf4b1a" /><Relationship Type="http://schemas.openxmlformats.org/officeDocument/2006/relationships/notesSlide" Target="/ppt/notesSlides/notesSlide5.xml" Id="R8474693080bc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568dfc6ff43a9" /><Relationship Type="http://schemas.openxmlformats.org/officeDocument/2006/relationships/notesSlide" Target="/ppt/notesSlides/notesSlide6.xml" Id="R2756a1972c9a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000b83638479e" /><Relationship Type="http://schemas.openxmlformats.org/officeDocument/2006/relationships/notesSlide" Target="/ppt/notesSlides/notesSlide7.xml" Id="R785acb6b913549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9628c640f4aa9" /><Relationship Type="http://schemas.openxmlformats.org/officeDocument/2006/relationships/notesSlide" Target="/ppt/notesSlides/notesSlide8.xml" Id="Ra1a7dcb953644a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b5e99c899496f" /><Relationship Type="http://schemas.openxmlformats.org/officeDocument/2006/relationships/notesSlide" Target="/ppt/notesSlides/notesSlide9.xml" Id="Ra48993fb38294c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9dd4afe354d7e" /><Relationship Type="http://schemas.openxmlformats.org/officeDocument/2006/relationships/notesSlide" Target="/ppt/notesSlides/notesSlide10.xml" Id="R696239ba3ce046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22fed6ec14877" /><Relationship Type="http://schemas.openxmlformats.org/officeDocument/2006/relationships/notesSlide" Target="/ppt/notesSlides/notesSlide11.xml" Id="Ra834960eb7d547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c809d9c794675" /><Relationship Type="http://schemas.openxmlformats.org/officeDocument/2006/relationships/notesSlide" Target="/ppt/notesSlides/notesSlide12.xml" Id="R19d4cd3328724f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7c8a94fd84551" /><Relationship Type="http://schemas.openxmlformats.org/officeDocument/2006/relationships/notesSlide" Target="/ppt/notesSlides/notesSlide13.xml" Id="Raae3424add0d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97646-9200-4D28-8120-3AFEFCBB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869E4-A047-47DC-93D4-2349B17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Đạo hàm và gradient descent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111A5-CC94-42D9-A825-729EF730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Ta nên bước sang trái hay sang phải để giảm loss?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9C0DB-1D98-4FD0-AED7-D383AFBD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1/13</a:t>
            </a:r>
          </a:p>
        </p:txBody>
      </p:sp>
    </p:spTree>
    <p:extLst>
      <p:ext uri="{BB962C8B-B14F-4D97-AF65-F5344CB8AC3E}">
        <p14:creationId xmlns:p14="http://schemas.microsoft.com/office/powerpoint/2010/main" val="968151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A3656-6DE7-4603-986A-1A4E7ED8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1C104-9CEF-4F00-8929-25D23EC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Đạo hàm là độ dốc; gradient gom độ dốc của nhiều tham số.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67B78-0E5C-4D2D-B144-08CEB0A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Gradient descent đi ngược gradient với độ dài bước do learning rate quyết định.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0012A-D8D1-4771-9B89-773E8EC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Loss là thứ optimizer tối ưu; metric đánh giá có thể khác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809B9-AE3B-4243-83CA-B696E0C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w_new = w_old - learning_rate × gradient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4D355-B16D-455A-AAC4-16AB3E1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2/13</a:t>
            </a:r>
          </a:p>
        </p:txBody>
      </p:sp>
    </p:spTree>
    <p:extLst>
      <p:ext uri="{BB962C8B-B14F-4D97-AF65-F5344CB8AC3E}">
        <p14:creationId xmlns:p14="http://schemas.microsoft.com/office/powerpoint/2010/main" val="568934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E6792-048A-456B-BB49-042E8E2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[2,0,-1]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55550-299D-4055-A092-09C281DB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3/13</a:t>
            </a:r>
          </a:p>
        </p:txBody>
      </p:sp>
    </p:spTree>
    <p:extLst>
      <p:ext uri="{BB962C8B-B14F-4D97-AF65-F5344CB8AC3E}">
        <p14:creationId xmlns:p14="http://schemas.microsoft.com/office/powerpoint/2010/main" val="299905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4BBC5-B889-4CD6-A671-E962FCC8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317A-1825-49DF-A4A7-E52256C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7,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D66DF-9E51-4789-B574-9C612B9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4/13</a:t>
            </a:r>
          </a:p>
        </p:txBody>
      </p:sp>
    </p:spTree>
    <p:extLst>
      <p:ext uri="{BB962C8B-B14F-4D97-AF65-F5344CB8AC3E}">
        <p14:creationId xmlns:p14="http://schemas.microsoft.com/office/powerpoint/2010/main" val="130459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F7676-6EF5-4502-A5B1-045B6AF6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8B35B-BC27-4DA0-B054-42AB2AB8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f(w)=(w-3)^2, gradient=2*(w-3).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 = 0.0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learning_rate = 0.1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print("step | w | loss")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step in range(5):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loss = (w-3)**2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print(step,round(w,4),round(loss,4))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grad = 2*(w-3)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w = w-learning_rate*grad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print("w sau 5 updates:",round(w,6))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abs(w-2.01696)&lt;1e-8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2BAC4-5DC6-4E2C-89B7-BCE4A325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0CD09-575A-48C3-B240-645576B9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1.9 · 5/13</a:t>
            </a:r>
          </a:p>
        </p:txBody>
      </p:sp>
    </p:spTree>
    <p:extLst>
      <p:ext uri="{BB962C8B-B14F-4D97-AF65-F5344CB8AC3E}">
        <p14:creationId xmlns:p14="http://schemas.microsoft.com/office/powerpoint/2010/main" val="1521348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753E6-C73B-4B2C-ABAB-47237F71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6B536-FBAA-441B-AF3F-4A3A246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step | w | loss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0 0.0 9.0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1 0.6 5.76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2 1.08 3.6864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3 1.464 2.3593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4 1.7712 1.5099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w sau 5 updates: 2.01696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8A38C-B77E-4D22-BFCF-C3707A2B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6/13</a:t>
            </a:r>
          </a:p>
        </p:txBody>
      </p:sp>
    </p:spTree>
    <p:extLst>
      <p:ext uri="{BB962C8B-B14F-4D97-AF65-F5344CB8AC3E}">
        <p14:creationId xmlns:p14="http://schemas.microsoft.com/office/powerpoint/2010/main" val="289452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00BFB-5F1C-4C04-93AB-3B61DC94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5A146-53AA-4348-8909-633FD611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Learning rate quá lớn có thể làm loss tăng hoặc dao động.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A20CB-9303-45FF-B386-373DC91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update đầu của f(w)=(w-3)² tại w0=0, lr0.1.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429C8-3A60-4DCE-BC17-966ABF24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7/13</a:t>
            </a:r>
          </a:p>
        </p:txBody>
      </p:sp>
    </p:spTree>
    <p:extLst>
      <p:ext uri="{BB962C8B-B14F-4D97-AF65-F5344CB8AC3E}">
        <p14:creationId xmlns:p14="http://schemas.microsoft.com/office/powerpoint/2010/main" val="1656253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BE654-E8A6-497C-BF04-1CC3E0B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28765-C64D-4E30-92D8-9BF17F6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dy/dx với y=x^2+3x tại từng x.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[2,0,-1]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399B1-0648-4054-91BE-E366B45C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8/13</a:t>
            </a:r>
          </a:p>
        </p:txBody>
      </p:sp>
    </p:spTree>
    <p:extLst>
      <p:ext uri="{BB962C8B-B14F-4D97-AF65-F5344CB8AC3E}">
        <p14:creationId xmlns:p14="http://schemas.microsoft.com/office/powerpoint/2010/main" val="599990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0D515-EF03-455A-8BFF-821FB79C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FB70A-35CE-4020-AF7F-48DE3A2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Cập nhật w←w-lr*2*(w-target) đúng steps lần. Trả w cuối.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steps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C2D3-D394-492C-90D3-128E509D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9/13</a:t>
            </a:r>
          </a:p>
        </p:txBody>
      </p:sp>
    </p:spTree>
    <p:extLst>
      <p:ext uri="{BB962C8B-B14F-4D97-AF65-F5344CB8AC3E}">
        <p14:creationId xmlns:p14="http://schemas.microsoft.com/office/powerpoint/2010/main" val="201347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6781A-BB09-40D5-8E74-C3AC2F9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546B4-DEA7-4AB8-BBD0-C93512B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dy/dx với y=x^2+3x tại từng 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08FB6-078E-4194-8C5F-AF6BACFA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list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D3A1C-DDAA-4EC2-A5AE-4CDB5243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E1362-CC7D-4981-B855-6D8EB10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10/13</a:t>
            </a:r>
          </a:p>
        </p:txBody>
      </p:sp>
    </p:spTree>
    <p:extLst>
      <p:ext uri="{BB962C8B-B14F-4D97-AF65-F5344CB8AC3E}">
        <p14:creationId xmlns:p14="http://schemas.microsoft.com/office/powerpoint/2010/main" val="1166639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BCF52-1331-4490-A3A4-C0F4578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FBC4F-AC36-4ABC-B1BC-1482D2DD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Cập nhật w←w-lr*2*(w-target) đúng steps lần. Trả w cuối.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53A2B-1941-45CE-BDD8-E869833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w, target, lr: số; steps: integer0..1000;0&lt;=lr&lt;=1.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E4B37-5017-4A19-91E5-0AEA5BC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E292F-BD4D-42FC-BF86-BF3422D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11/13</a:t>
            </a:r>
          </a:p>
        </p:txBody>
      </p:sp>
    </p:spTree>
    <p:extLst>
      <p:ext uri="{BB962C8B-B14F-4D97-AF65-F5344CB8AC3E}">
        <p14:creationId xmlns:p14="http://schemas.microsoft.com/office/powerpoint/2010/main" val="245062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AE1A3-CD59-4DAA-BAF6-C463E491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5272-9F56-42B1-AE24-F8B74574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Với loss=(w*x+b-y)^2, trả grad_w và grad_b.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58F09-FA54-4467-9B48-701B1591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w, b, x, y: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1F17D-F7F6-4F3E-9B54-AB1A9C67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C6AA2-6CE6-451D-B6A7-94E1E9AB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12/13</a:t>
            </a:r>
          </a:p>
        </p:txBody>
      </p:sp>
    </p:spTree>
    <p:extLst>
      <p:ext uri="{BB962C8B-B14F-4D97-AF65-F5344CB8AC3E}">
        <p14:creationId xmlns:p14="http://schemas.microsoft.com/office/powerpoint/2010/main" val="1782401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933CB-5FC9-430A-86BD-B4FDDEC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06181-616E-41C4-80B5-6D596FD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update đầu của f(w)=(w-3)² tại w0=0, lr0.1.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C6D90-8F49-48C6-B591-EB49BB1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3.1–3.2; AIO 21.2–21.4.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2543C-5627-428F-82A9-4FE30B6F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21.4 thực hành huấn luyện Linear Regression và 21.6 trắc nghiệm; trở lại khi học mạng neural.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60B97-657C-496B-AC7D-D13A13C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1.9 · 13/13</a:t>
            </a:r>
          </a:p>
        </p:txBody>
      </p:sp>
    </p:spTree>
    <p:extLst>
      <p:ext uri="{BB962C8B-B14F-4D97-AF65-F5344CB8AC3E}">
        <p14:creationId xmlns:p14="http://schemas.microsoft.com/office/powerpoint/2010/main" val="156455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2026-10-01T09:01:50.5200000Z</dcterms:created>
  <dcterms:modified xsi:type="dcterms:W3CDTF">2026-10-01T09:01:50.5200000Z</dcterms:modified>
</coreProperties>
</file>